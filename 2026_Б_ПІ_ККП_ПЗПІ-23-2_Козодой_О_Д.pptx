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embeddedFontLst>
    <p:embeddedFont>
      <p:font typeface="Economica" panose="020B0604020202020204" charset="0"/>
      <p:regular r:id="rId19"/>
      <p:bold r:id="rId20"/>
      <p:italic r:id="rId21"/>
      <p:boldItalic r:id="rId22"/>
    </p:embeddedFont>
    <p:embeddedFont>
      <p:font typeface="Open Sans" panose="020B0606030504020204" pitchFamily="34" charset="0"/>
      <p:regular r:id="rId23"/>
      <p:bold r:id="rId24"/>
      <p:italic r:id="rId25"/>
      <p:boldItalic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7" d="100"/>
          <a:sy n="87" d="100"/>
        </p:scale>
        <p:origin x="854" y="9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0" name="Google Shape;60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9" name="Google Shape;6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7" name="Google Shape;77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2" name="Google Shape;92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2" name="Google Shape;112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1" name="Google Shape;121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1" name="Google Shape;131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0" name="Google Shape;140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7" name="Google Shape;157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6" name="Google Shape;166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7" name="Google Shape;177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1" name="Google Shape;191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0" name="Google Shape;200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3" name="Google Shape;213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2744013" y="756700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0"/>
            <a:headEnd type="none" w="sm" len="sm"/>
            <a:tailEnd type="none" w="sm" len="sm"/>
          </a:ln>
        </p:spPr>
      </p:sp>
      <p:sp>
        <p:nvSpPr>
          <p:cNvPr id="11" name="Google Shape;11;p2"/>
          <p:cNvSpPr/>
          <p:nvPr/>
        </p:nvSpPr>
        <p:spPr>
          <a:xfrm rot="10800000">
            <a:off x="5318350" y="32667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0"/>
            <a:headEnd type="none" w="sm" len="sm"/>
            <a:tailEnd type="none" w="sm" len="sm"/>
          </a:ln>
        </p:spPr>
      </p:sp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3044700" y="1444255"/>
            <a:ext cx="3054600" cy="153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3044700" y="3116580"/>
            <a:ext cx="3054600" cy="70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‹№›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p3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‹№›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/>
          <p:nvPr/>
        </p:nvSpPr>
        <p:spPr>
          <a:xfrm flipH="1">
            <a:off x="7595938" y="4602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0"/>
            <a:headEnd type="none" w="sm" len="sm"/>
            <a:tailEnd type="none" w="sm" len="sm"/>
          </a:ln>
        </p:spPr>
      </p:sp>
      <p:sp>
        <p:nvSpPr>
          <p:cNvPr id="22" name="Google Shape;22;p4"/>
          <p:cNvSpPr/>
          <p:nvPr/>
        </p:nvSpPr>
        <p:spPr>
          <a:xfrm rot="10800000" flipH="1">
            <a:off x="466425" y="35583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0"/>
            <a:headEnd type="none" w="sm" len="sm"/>
            <a:tailEnd type="none" w="sm" len="sm"/>
          </a:ln>
        </p:spPr>
      </p:sp>
      <p:sp>
        <p:nvSpPr>
          <p:cNvPr id="23" name="Google Shape;23;p4"/>
          <p:cNvSpPr txBox="1">
            <a:spLocks noGrp="1"/>
          </p:cNvSpPr>
          <p:nvPr>
            <p:ph type="title"/>
          </p:nvPr>
        </p:nvSpPr>
        <p:spPr>
          <a:xfrm>
            <a:off x="773700" y="1806450"/>
            <a:ext cx="7596600" cy="153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‹№›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39999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body" idx="2"/>
          </p:nvPr>
        </p:nvSpPr>
        <p:spPr>
          <a:xfrm>
            <a:off x="4832400" y="1225225"/>
            <a:ext cx="39999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‹№›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‹№›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body" idx="1"/>
          </p:nvPr>
        </p:nvSpPr>
        <p:spPr>
          <a:xfrm>
            <a:off x="311700" y="1399400"/>
            <a:ext cx="2808000" cy="27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‹№›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5878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40" name="Google Shape;40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‹№›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9"/>
          <p:cNvSpPr/>
          <p:nvPr/>
        </p:nvSpPr>
        <p:spPr>
          <a:xfrm>
            <a:off x="4572000" y="-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3" name="Google Shape;43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4" name="Google Shape;44;p9"/>
          <p:cNvSpPr txBox="1">
            <a:spLocks noGrp="1"/>
          </p:cNvSpPr>
          <p:nvPr>
            <p:ph type="title"/>
          </p:nvPr>
        </p:nvSpPr>
        <p:spPr>
          <a:xfrm>
            <a:off x="265500" y="929275"/>
            <a:ext cx="4045200" cy="178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subTitle" idx="1"/>
          </p:nvPr>
        </p:nvSpPr>
        <p:spPr>
          <a:xfrm>
            <a:off x="265500" y="2769001"/>
            <a:ext cx="4045200" cy="157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" name="Google Shape;47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‹№›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0"/>
          <p:cNvSpPr txBox="1">
            <a:spLocks noGrp="1"/>
          </p:cNvSpPr>
          <p:nvPr>
            <p:ph type="body" idx="1"/>
          </p:nvPr>
        </p:nvSpPr>
        <p:spPr>
          <a:xfrm>
            <a:off x="319500" y="421892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</a:lstStyle>
          <a:p>
            <a:endParaRPr/>
          </a:p>
        </p:txBody>
      </p:sp>
      <p:sp>
        <p:nvSpPr>
          <p:cNvPr id="50" name="Google Shape;50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‹№›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1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" name="Google Shape;53;p11"/>
          <p:cNvSpPr txBox="1">
            <a:spLocks noGrp="1"/>
          </p:cNvSpPr>
          <p:nvPr>
            <p:ph type="title" hasCustomPrompt="1"/>
          </p:nvPr>
        </p:nvSpPr>
        <p:spPr>
          <a:xfrm>
            <a:off x="311700" y="957125"/>
            <a:ext cx="8520600" cy="21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4" name="Google Shape;54;p11"/>
          <p:cNvSpPr txBox="1">
            <a:spLocks noGrp="1"/>
          </p:cNvSpPr>
          <p:nvPr>
            <p:ph type="body" idx="1"/>
          </p:nvPr>
        </p:nvSpPr>
        <p:spPr>
          <a:xfrm>
            <a:off x="311700" y="3162000"/>
            <a:ext cx="8520600" cy="10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5" name="Google Shape;55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‹№›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‹№›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luxe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‹№›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3"/>
          <p:cNvSpPr txBox="1">
            <a:spLocks noGrp="1"/>
          </p:cNvSpPr>
          <p:nvPr>
            <p:ph type="ctrTitle"/>
          </p:nvPr>
        </p:nvSpPr>
        <p:spPr>
          <a:xfrm>
            <a:off x="2805450" y="760000"/>
            <a:ext cx="5835600" cy="112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" sz="1800">
                <a:latin typeface="Times New Roman"/>
                <a:ea typeface="Times New Roman"/>
                <a:cs typeface="Times New Roman"/>
                <a:sym typeface="Times New Roman"/>
              </a:rPr>
              <a:t>Програмна система для пошуку загублених і знайдених домашніх тварин. UI/UX. Мобільний застосунок. Робота з оголошеннями</a:t>
            </a:r>
            <a:endParaRPr sz="18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3" name="Google Shape;63;p13"/>
          <p:cNvSpPr txBox="1">
            <a:spLocks noGrp="1"/>
          </p:cNvSpPr>
          <p:nvPr>
            <p:ph type="subTitle" idx="1"/>
          </p:nvPr>
        </p:nvSpPr>
        <p:spPr>
          <a:xfrm>
            <a:off x="765450" y="2982475"/>
            <a:ext cx="5575200" cy="201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70000" lnSpcReduction="20000"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7647"/>
              <a:buNone/>
            </a:pP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97707"/>
              <a:buNone/>
            </a:pPr>
            <a:r>
              <a:rPr lang="uk" sz="2529" dirty="0">
                <a:latin typeface="Times New Roman"/>
                <a:ea typeface="Times New Roman"/>
                <a:cs typeface="Times New Roman"/>
                <a:sym typeface="Times New Roman"/>
              </a:rPr>
              <a:t>Олеся Козодой, група ПЗПІ-23-2</a:t>
            </a:r>
            <a:endParaRPr sz="2529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97707"/>
              <a:buNone/>
            </a:pPr>
            <a:endParaRPr sz="2529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97707"/>
              <a:buNone/>
            </a:pPr>
            <a:r>
              <a:rPr lang="uk" sz="2529" dirty="0">
                <a:latin typeface="Times New Roman"/>
                <a:ea typeface="Times New Roman"/>
                <a:cs typeface="Times New Roman"/>
                <a:sym typeface="Times New Roman"/>
              </a:rPr>
              <a:t>Керівник: доц. кафедри ПІ </a:t>
            </a:r>
            <a:endParaRPr sz="2529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97707"/>
              <a:buNone/>
            </a:pPr>
            <a:r>
              <a:rPr lang="uk" sz="2529" dirty="0">
                <a:latin typeface="Times New Roman"/>
                <a:ea typeface="Times New Roman"/>
                <a:cs typeface="Times New Roman"/>
                <a:sym typeface="Times New Roman"/>
              </a:rPr>
              <a:t>Ірина Побіженко</a:t>
            </a:r>
            <a:endParaRPr sz="2529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7647"/>
              <a:buNone/>
            </a:pP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7647"/>
              <a:buNone/>
            </a:pP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7647"/>
              <a:buNone/>
            </a:pP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1371600" lvl="0" indent="457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7647"/>
              <a:buNone/>
            </a:pPr>
            <a:r>
              <a:rPr lang="uk" dirty="0">
                <a:latin typeface="Times New Roman"/>
                <a:ea typeface="Times New Roman"/>
                <a:cs typeface="Times New Roman"/>
                <a:sym typeface="Times New Roman"/>
              </a:rPr>
              <a:t>11 червня 2026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64" name="Google Shape;64;p1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5" name="Google Shape;65;p1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04725" y="170825"/>
            <a:ext cx="2133975" cy="389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13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068504" y="170825"/>
            <a:ext cx="1924921" cy="439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4"/>
          <p:cNvSpPr txBox="1">
            <a:spLocks noGrp="1"/>
          </p:cNvSpPr>
          <p:nvPr>
            <p:ph type="title"/>
          </p:nvPr>
        </p:nvSpPr>
        <p:spPr>
          <a:xfrm>
            <a:off x="311700" y="0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" sz="3200">
                <a:latin typeface="Times New Roman"/>
                <a:ea typeface="Times New Roman"/>
                <a:cs typeface="Times New Roman"/>
                <a:sym typeface="Times New Roman"/>
              </a:rPr>
              <a:t>Мета роботи</a:t>
            </a:r>
            <a:endParaRPr sz="32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2" name="Google Shape;72;p14"/>
          <p:cNvSpPr txBox="1">
            <a:spLocks noGrp="1"/>
          </p:cNvSpPr>
          <p:nvPr>
            <p:ph type="body" idx="1"/>
          </p:nvPr>
        </p:nvSpPr>
        <p:spPr>
          <a:xfrm>
            <a:off x="311700" y="937631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</a:pPr>
            <a:r>
              <a:rPr lang="uk" b="1">
                <a:latin typeface="Times New Roman"/>
                <a:ea typeface="Times New Roman"/>
                <a:cs typeface="Times New Roman"/>
                <a:sym typeface="Times New Roman"/>
              </a:rPr>
              <a:t>Мета: </a:t>
            </a:r>
            <a:r>
              <a:rPr lang="uk">
                <a:latin typeface="Times New Roman"/>
                <a:ea typeface="Times New Roman"/>
                <a:cs typeface="Times New Roman"/>
                <a:sym typeface="Times New Roman"/>
              </a:rPr>
              <a:t>проєктування UI/UX та розробка мобільного клієнта застосунку PetFound для роботи з оголошеннями про загублених і знайдених тварин.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</a:pPr>
            <a:r>
              <a:rPr lang="uk" b="1">
                <a:latin typeface="Times New Roman"/>
                <a:ea typeface="Times New Roman"/>
                <a:cs typeface="Times New Roman"/>
                <a:sym typeface="Times New Roman"/>
              </a:rPr>
              <a:t>Актуальність: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</a:pPr>
            <a:r>
              <a:rPr lang="uk">
                <a:latin typeface="Times New Roman"/>
                <a:ea typeface="Times New Roman"/>
                <a:cs typeface="Times New Roman"/>
                <a:sym typeface="Times New Roman"/>
              </a:rPr>
              <a:t>– зникнення тварини потребує швидкого поширення інформації серед людей поблизу;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</a:pPr>
            <a:r>
              <a:rPr lang="uk">
                <a:latin typeface="Times New Roman"/>
                <a:ea typeface="Times New Roman"/>
                <a:cs typeface="Times New Roman"/>
                <a:sym typeface="Times New Roman"/>
              </a:rPr>
              <a:t>– наявні канали (соцмережі, дошки оголошень) не структуровані й не мають фільтрації, оголошення швидко тонуть у потоці;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</a:pPr>
            <a:r>
              <a:rPr lang="uk">
                <a:latin typeface="Times New Roman"/>
                <a:ea typeface="Times New Roman"/>
                <a:cs typeface="Times New Roman"/>
                <a:sym typeface="Times New Roman"/>
              </a:rPr>
              <a:t>– потрібен спеціалізований мобільний застосунок для швидкої публікації та зручного перегляду оголошень.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73" name="Google Shape;73;p1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74" name="Google Shape;74;p14"/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uk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"/>
          <p:cNvSpPr txBox="1">
            <a:spLocks noGrp="1"/>
          </p:cNvSpPr>
          <p:nvPr>
            <p:ph type="title"/>
          </p:nvPr>
        </p:nvSpPr>
        <p:spPr>
          <a:xfrm>
            <a:off x="311700" y="-124863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" sz="3200">
                <a:latin typeface="Times New Roman"/>
                <a:ea typeface="Times New Roman"/>
                <a:cs typeface="Times New Roman"/>
                <a:sym typeface="Times New Roman"/>
              </a:rPr>
              <a:t>Аналіз проблеми (аналіз існуючих аналогів) </a:t>
            </a:r>
            <a:endParaRPr sz="32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80" name="Google Shape;80;p15"/>
          <p:cNvSpPr txBox="1">
            <a:spLocks noGrp="1"/>
          </p:cNvSpPr>
          <p:nvPr>
            <p:ph type="body" idx="1"/>
          </p:nvPr>
        </p:nvSpPr>
        <p:spPr>
          <a:xfrm>
            <a:off x="1241071" y="4154100"/>
            <a:ext cx="2809200" cy="58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0833" algn="l" rtl="0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295"/>
              <a:buFont typeface="Times New Roman"/>
              <a:buChar char="-"/>
            </a:pPr>
            <a:r>
              <a:rPr lang="uk" sz="1295">
                <a:latin typeface="Times New Roman"/>
                <a:ea typeface="Times New Roman"/>
                <a:cs typeface="Times New Roman"/>
                <a:sym typeface="Times New Roman"/>
              </a:rPr>
              <a:t>ключові функції платні; </a:t>
            </a:r>
            <a:endParaRPr sz="1295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10833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295"/>
              <a:buFont typeface="Times New Roman"/>
              <a:buChar char="-"/>
            </a:pPr>
            <a:r>
              <a:rPr lang="uk" sz="1295">
                <a:latin typeface="Times New Roman"/>
                <a:ea typeface="Times New Roman"/>
                <a:cs typeface="Times New Roman"/>
                <a:sym typeface="Times New Roman"/>
              </a:rPr>
              <a:t>немає зручного мобільного застосунку.</a:t>
            </a:r>
            <a:endParaRPr sz="1295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395"/>
              <a:buNone/>
            </a:pPr>
            <a:endParaRPr sz="1295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81" name="Google Shape;81;p1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15"/>
          <p:cNvSpPr txBox="1"/>
          <p:nvPr/>
        </p:nvSpPr>
        <p:spPr>
          <a:xfrm>
            <a:off x="8778240" y="4606349"/>
            <a:ext cx="2841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uk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3" name="Google Shape;83;p1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641083" y="761725"/>
            <a:ext cx="1695029" cy="3465050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5"/>
          <p:cNvSpPr txBox="1"/>
          <p:nvPr/>
        </p:nvSpPr>
        <p:spPr>
          <a:xfrm>
            <a:off x="3957908" y="870000"/>
            <a:ext cx="12282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uk" sz="2400" b="1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Pet911 </a:t>
            </a:r>
            <a:endParaRPr sz="24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85" name="Google Shape;85;p1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874225" y="721775"/>
            <a:ext cx="1695025" cy="3447687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5"/>
          <p:cNvSpPr txBox="1">
            <a:spLocks noGrp="1"/>
          </p:cNvSpPr>
          <p:nvPr>
            <p:ph type="body" idx="1"/>
          </p:nvPr>
        </p:nvSpPr>
        <p:spPr>
          <a:xfrm>
            <a:off x="4404600" y="4184810"/>
            <a:ext cx="4739400" cy="7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0833" algn="l" rtl="0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295"/>
              <a:buFont typeface="Times New Roman"/>
              <a:buChar char="-"/>
            </a:pPr>
            <a:r>
              <a:rPr lang="uk" sz="1295">
                <a:latin typeface="Times New Roman"/>
                <a:ea typeface="Times New Roman"/>
                <a:cs typeface="Times New Roman"/>
                <a:sym typeface="Times New Roman"/>
              </a:rPr>
              <a:t>немає спеціалізованих фільтрів за типом і видом;</a:t>
            </a:r>
            <a:endParaRPr sz="1295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10833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295"/>
              <a:buFont typeface="Times New Roman"/>
              <a:buChar char="-"/>
            </a:pPr>
            <a:r>
              <a:rPr lang="uk" sz="1295">
                <a:latin typeface="Times New Roman"/>
                <a:ea typeface="Times New Roman"/>
                <a:cs typeface="Times New Roman"/>
                <a:sym typeface="Times New Roman"/>
              </a:rPr>
              <a:t>оголошення швидко тонуть;</a:t>
            </a:r>
            <a:endParaRPr sz="1295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10833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295"/>
              <a:buFont typeface="Times New Roman"/>
              <a:buChar char="-"/>
            </a:pPr>
            <a:r>
              <a:rPr lang="uk" sz="1295">
                <a:latin typeface="Times New Roman"/>
                <a:ea typeface="Times New Roman"/>
                <a:cs typeface="Times New Roman"/>
                <a:sym typeface="Times New Roman"/>
              </a:rPr>
              <a:t>немає тематичних коментарів.</a:t>
            </a:r>
            <a:endParaRPr sz="1295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395"/>
              <a:buNone/>
            </a:pPr>
            <a:endParaRPr sz="1295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87" name="Google Shape;87;p15"/>
          <p:cNvSpPr txBox="1"/>
          <p:nvPr/>
        </p:nvSpPr>
        <p:spPr>
          <a:xfrm>
            <a:off x="3664796" y="1807752"/>
            <a:ext cx="18144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uk" sz="2400" b="1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OLX.ua</a:t>
            </a:r>
            <a:endParaRPr sz="2400" b="1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88" name="Google Shape;88;p15"/>
          <p:cNvCxnSpPr>
            <a:stCxn id="84" idx="1"/>
          </p:cNvCxnSpPr>
          <p:nvPr/>
        </p:nvCxnSpPr>
        <p:spPr>
          <a:xfrm flipH="1">
            <a:off x="3442208" y="1147050"/>
            <a:ext cx="515700" cy="7800"/>
          </a:xfrm>
          <a:prstGeom prst="straightConnector1">
            <a:avLst/>
          </a:prstGeom>
          <a:noFill/>
          <a:ln w="38100" cap="flat" cmpd="sng">
            <a:solidFill>
              <a:srgbClr val="D08044"/>
            </a:solidFill>
            <a:prstDash val="solid"/>
            <a:round/>
            <a:headEnd type="none" w="sm" len="sm"/>
            <a:tailEnd type="triangle" w="med" len="med"/>
          </a:ln>
        </p:spPr>
      </p:cxnSp>
      <p:cxnSp>
        <p:nvCxnSpPr>
          <p:cNvPr id="89" name="Google Shape;89;p15"/>
          <p:cNvCxnSpPr/>
          <p:nvPr/>
        </p:nvCxnSpPr>
        <p:spPr>
          <a:xfrm>
            <a:off x="5212075" y="2095000"/>
            <a:ext cx="564000" cy="0"/>
          </a:xfrm>
          <a:prstGeom prst="straightConnector1">
            <a:avLst/>
          </a:prstGeom>
          <a:noFill/>
          <a:ln w="38100" cap="flat" cmpd="sng">
            <a:solidFill>
              <a:srgbClr val="D08044"/>
            </a:solidFill>
            <a:prstDash val="solid"/>
            <a:round/>
            <a:headEnd type="none" w="sm" len="sm"/>
            <a:tailEnd type="triangle" w="med" len="med"/>
          </a:ln>
        </p:spPr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6"/>
          <p:cNvSpPr txBox="1">
            <a:spLocks noGrp="1"/>
          </p:cNvSpPr>
          <p:nvPr>
            <p:ph type="title"/>
          </p:nvPr>
        </p:nvSpPr>
        <p:spPr>
          <a:xfrm>
            <a:off x="311700" y="-186276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" sz="3200">
                <a:latin typeface="Times New Roman"/>
                <a:ea typeface="Times New Roman"/>
                <a:cs typeface="Times New Roman"/>
                <a:sym typeface="Times New Roman"/>
              </a:rPr>
              <a:t>Постановка задачі та опис системи</a:t>
            </a:r>
            <a:endParaRPr sz="32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5" name="Google Shape;95;p16"/>
          <p:cNvSpPr txBox="1">
            <a:spLocks noGrp="1"/>
          </p:cNvSpPr>
          <p:nvPr>
            <p:ph type="body" idx="1"/>
          </p:nvPr>
        </p:nvSpPr>
        <p:spPr>
          <a:xfrm>
            <a:off x="311700" y="756600"/>
            <a:ext cx="8520600" cy="348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ct val="100000"/>
              <a:buNone/>
            </a:pPr>
            <a:r>
              <a:rPr lang="uk" dirty="0">
                <a:latin typeface="Times New Roman"/>
                <a:ea typeface="Times New Roman"/>
                <a:cs typeface="Times New Roman"/>
                <a:sym typeface="Times New Roman"/>
              </a:rPr>
              <a:t>Метою даної роботи є проєктування UI/UX та розробка мобільного клієнта програмної системи PetFound у рамках комплексного курсового проєкту. Застосунок має бути призначений для публікації та перегляду оголошень про загублених і знайдених домашніх тварин.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ct val="100000"/>
              <a:buNone/>
            </a:pP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ct val="100000"/>
              <a:buNone/>
            </a:pPr>
            <a:r>
              <a:rPr lang="uk" b="1" dirty="0">
                <a:latin typeface="Times New Roman"/>
                <a:ea typeface="Times New Roman"/>
                <a:cs typeface="Times New Roman"/>
                <a:sym typeface="Times New Roman"/>
              </a:rPr>
              <a:t>Реалізувати функціонал роботи з оголошеннями:</a:t>
            </a:r>
            <a:endParaRPr b="1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uk" dirty="0">
                <a:latin typeface="Times New Roman"/>
                <a:ea typeface="Times New Roman"/>
                <a:cs typeface="Times New Roman"/>
                <a:sym typeface="Times New Roman"/>
              </a:rPr>
              <a:t>– проєктування UI/UX інтерфейсу застосунку;</a:t>
            </a:r>
            <a:endParaRPr b="1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ct val="100000"/>
              <a:buNone/>
            </a:pPr>
            <a:r>
              <a:rPr lang="uk" dirty="0">
                <a:latin typeface="Times New Roman"/>
                <a:ea typeface="Times New Roman"/>
                <a:cs typeface="Times New Roman"/>
                <a:sym typeface="Times New Roman"/>
              </a:rPr>
              <a:t>– стрічка оголошень, екран деталей, система коментарів;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ct val="100000"/>
              <a:buNone/>
            </a:pPr>
            <a:r>
              <a:rPr lang="uk" dirty="0">
                <a:latin typeface="Times New Roman"/>
                <a:ea typeface="Times New Roman"/>
                <a:cs typeface="Times New Roman"/>
                <a:sym typeface="Times New Roman"/>
              </a:rPr>
              <a:t>– публікація оголошень про загублених і знайдених тварин;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ct val="100000"/>
              <a:buNone/>
            </a:pPr>
            <a:r>
              <a:rPr lang="uk" dirty="0">
                <a:latin typeface="Times New Roman"/>
                <a:ea typeface="Times New Roman"/>
                <a:cs typeface="Times New Roman"/>
                <a:sym typeface="Times New Roman"/>
              </a:rPr>
              <a:t>– керування власними оголошеннями та картки тварин.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ct val="100000"/>
              <a:buNone/>
            </a:pPr>
            <a:r>
              <a:rPr lang="uk" dirty="0">
                <a:latin typeface="Times New Roman"/>
                <a:ea typeface="Times New Roman"/>
                <a:cs typeface="Times New Roman"/>
                <a:sym typeface="Times New Roman"/>
              </a:rPr>
              <a:t>Платформи iOS та Android; стек React Native, Expo, TypeScript.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96" name="Google Shape;96;p1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16"/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uk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8" name="Google Shape;98;p16"/>
          <p:cNvCxnSpPr/>
          <p:nvPr/>
        </p:nvCxnSpPr>
        <p:spPr>
          <a:xfrm>
            <a:off x="400425" y="2061823"/>
            <a:ext cx="6813900" cy="11100"/>
          </a:xfrm>
          <a:prstGeom prst="straightConnector1">
            <a:avLst/>
          </a:prstGeom>
          <a:noFill/>
          <a:ln w="28575" cap="flat" cmpd="sng">
            <a:solidFill>
              <a:srgbClr val="D08044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7"/>
          <p:cNvSpPr txBox="1">
            <a:spLocks noGrp="1"/>
          </p:cNvSpPr>
          <p:nvPr>
            <p:ph type="title"/>
          </p:nvPr>
        </p:nvSpPr>
        <p:spPr>
          <a:xfrm>
            <a:off x="311700" y="-148309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" sz="3200">
                <a:latin typeface="Times New Roman"/>
                <a:ea typeface="Times New Roman"/>
                <a:cs typeface="Times New Roman"/>
                <a:sym typeface="Times New Roman"/>
              </a:rPr>
              <a:t>Вибір технологій розробки </a:t>
            </a:r>
            <a:endParaRPr sz="32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4" name="Google Shape;104;p17"/>
          <p:cNvSpPr txBox="1">
            <a:spLocks noGrp="1"/>
          </p:cNvSpPr>
          <p:nvPr>
            <p:ph type="body" idx="1"/>
          </p:nvPr>
        </p:nvSpPr>
        <p:spPr>
          <a:xfrm>
            <a:off x="311700" y="684625"/>
            <a:ext cx="8520600" cy="283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</a:pPr>
            <a:r>
              <a:rPr lang="uk">
                <a:latin typeface="Times New Roman"/>
                <a:ea typeface="Times New Roman"/>
                <a:cs typeface="Times New Roman"/>
                <a:sym typeface="Times New Roman"/>
              </a:rPr>
              <a:t>– React Native + Expo – кросплатформний мобільний клієнт (iOS, Android);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</a:pPr>
            <a:r>
              <a:rPr lang="uk">
                <a:latin typeface="Times New Roman"/>
                <a:ea typeface="Times New Roman"/>
                <a:cs typeface="Times New Roman"/>
                <a:sym typeface="Times New Roman"/>
              </a:rPr>
              <a:t>– TypeScript – сувора статична типізація коду;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</a:pPr>
            <a:r>
              <a:rPr lang="uk">
                <a:latin typeface="Times New Roman"/>
                <a:ea typeface="Times New Roman"/>
                <a:cs typeface="Times New Roman"/>
                <a:sym typeface="Times New Roman"/>
              </a:rPr>
              <a:t>– TanStack Query – кешування та інвалідація серверного стану;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</a:pPr>
            <a:r>
              <a:rPr lang="uk">
                <a:latin typeface="Times New Roman"/>
                <a:ea typeface="Times New Roman"/>
                <a:cs typeface="Times New Roman"/>
                <a:sym typeface="Times New Roman"/>
              </a:rPr>
              <a:t>– Axios із перехоплювачами – централізована мережева логіка та авторизація;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</a:pPr>
            <a:r>
              <a:rPr lang="uk">
                <a:latin typeface="Times New Roman"/>
                <a:ea typeface="Times New Roman"/>
                <a:cs typeface="Times New Roman"/>
                <a:sym typeface="Times New Roman"/>
              </a:rPr>
              <a:t>– Zod – клієнтська валідація форм;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</a:pPr>
            <a:r>
              <a:rPr lang="uk">
                <a:latin typeface="Times New Roman"/>
                <a:ea typeface="Times New Roman"/>
                <a:cs typeface="Times New Roman"/>
                <a:sym typeface="Times New Roman"/>
              </a:rPr>
              <a:t>– Azure Blob Storage (SAS-токен) – пряме завантаження фотографій.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05" name="Google Shape;105;p1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17"/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uk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5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7" name="Google Shape;107;p17"/>
          <p:cNvPicPr preferRelativeResize="0"/>
          <p:nvPr/>
        </p:nvPicPr>
        <p:blipFill rotWithShape="1">
          <a:blip r:embed="rId4">
            <a:alphaModFix/>
          </a:blip>
          <a:srcRect l="26485" t="15595" r="27189" b="14062"/>
          <a:stretch/>
        </p:blipFill>
        <p:spPr>
          <a:xfrm>
            <a:off x="2479924" y="3517825"/>
            <a:ext cx="1526451" cy="1216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17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625099" y="3318725"/>
            <a:ext cx="1367275" cy="1367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17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800725" y="3489676"/>
            <a:ext cx="1216900" cy="1216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8"/>
          <p:cNvSpPr txBox="1">
            <a:spLocks noGrp="1"/>
          </p:cNvSpPr>
          <p:nvPr>
            <p:ph type="title"/>
          </p:nvPr>
        </p:nvSpPr>
        <p:spPr>
          <a:xfrm>
            <a:off x="268925" y="349659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" sz="3200">
                <a:latin typeface="Times New Roman"/>
                <a:ea typeface="Times New Roman"/>
                <a:cs typeface="Times New Roman"/>
                <a:sym typeface="Times New Roman"/>
              </a:rPr>
              <a:t>Архітектура створенного програмного забезпечення</a:t>
            </a:r>
            <a:endParaRPr sz="32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5" name="Google Shape;115;p18"/>
          <p:cNvSpPr txBox="1">
            <a:spLocks noGrp="1"/>
          </p:cNvSpPr>
          <p:nvPr>
            <p:ph type="body" idx="1"/>
          </p:nvPr>
        </p:nvSpPr>
        <p:spPr>
          <a:xfrm>
            <a:off x="2634800" y="1180950"/>
            <a:ext cx="6249600" cy="312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</a:pPr>
            <a:r>
              <a:rPr lang="uk" b="1">
                <a:latin typeface="Times New Roman"/>
                <a:ea typeface="Times New Roman"/>
                <a:cs typeface="Times New Roman"/>
                <a:sym typeface="Times New Roman"/>
              </a:rPr>
              <a:t>Поділ відповідальності між шарами: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</a:pPr>
            <a:r>
              <a:rPr lang="uk">
                <a:latin typeface="Times New Roman"/>
                <a:ea typeface="Times New Roman"/>
                <a:cs typeface="Times New Roman"/>
                <a:sym typeface="Times New Roman"/>
              </a:rPr>
              <a:t>– представлення – екрани та перевикористовувані компоненти;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</a:pPr>
            <a:r>
              <a:rPr lang="uk">
                <a:latin typeface="Times New Roman"/>
                <a:ea typeface="Times New Roman"/>
                <a:cs typeface="Times New Roman"/>
                <a:sym typeface="Times New Roman"/>
              </a:rPr>
              <a:t>– управління станом – провайдери React Context;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</a:pPr>
            <a:r>
              <a:rPr lang="uk">
                <a:latin typeface="Times New Roman"/>
                <a:ea typeface="Times New Roman"/>
                <a:cs typeface="Times New Roman"/>
                <a:sym typeface="Times New Roman"/>
              </a:rPr>
              <a:t>– доступ до даних – Axios-клієнт і хуки TanStack Query;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</a:pPr>
            <a:r>
              <a:rPr lang="uk">
                <a:latin typeface="Times New Roman"/>
                <a:ea typeface="Times New Roman"/>
                <a:cs typeface="Times New Roman"/>
                <a:sym typeface="Times New Roman"/>
              </a:rPr>
              <a:t>– типи та допоміжні утиліти.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</a:pPr>
            <a:r>
              <a:rPr lang="uk">
                <a:latin typeface="Times New Roman"/>
                <a:ea typeface="Times New Roman"/>
                <a:cs typeface="Times New Roman"/>
                <a:sym typeface="Times New Roman"/>
              </a:rPr>
              <a:t>Навігація – Expo Router (файлова маршрутизація). Патерни: Provider, користувацькі хуки, перехоплювач (interceptor).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16" name="Google Shape;116;p1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18"/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uk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6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8" name="Google Shape;118;p1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39525" y="1306784"/>
            <a:ext cx="1945076" cy="287374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9"/>
          <p:cNvSpPr txBox="1">
            <a:spLocks noGrp="1"/>
          </p:cNvSpPr>
          <p:nvPr>
            <p:ph type="title"/>
          </p:nvPr>
        </p:nvSpPr>
        <p:spPr>
          <a:xfrm>
            <a:off x="311700" y="-92038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">
                <a:latin typeface="Times New Roman"/>
                <a:ea typeface="Times New Roman"/>
                <a:cs typeface="Times New Roman"/>
                <a:sym typeface="Times New Roman"/>
              </a:rPr>
              <a:t>Проєктування UI/UX</a:t>
            </a:r>
            <a:endParaRPr sz="32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24" name="Google Shape;124;p19"/>
          <p:cNvSpPr txBox="1">
            <a:spLocks noGrp="1"/>
          </p:cNvSpPr>
          <p:nvPr>
            <p:ph type="body" idx="1"/>
          </p:nvPr>
        </p:nvSpPr>
        <p:spPr>
          <a:xfrm>
            <a:off x="372215" y="1026122"/>
            <a:ext cx="6123000" cy="122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</a:pPr>
            <a:r>
              <a:rPr lang="uk">
                <a:latin typeface="Times New Roman"/>
                <a:ea typeface="Times New Roman"/>
                <a:cs typeface="Times New Roman"/>
                <a:sym typeface="Times New Roman"/>
              </a:rPr>
              <a:t>Простота й інтуїтивність – головна мета, так як при користування застосунком PetFound, користувач перебуватиме у стресовій ситуації.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25" name="Google Shape;125;p1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9"/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uk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7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19"/>
          <p:cNvSpPr txBox="1">
            <a:spLocks noGrp="1"/>
          </p:cNvSpPr>
          <p:nvPr>
            <p:ph type="body" idx="1"/>
          </p:nvPr>
        </p:nvSpPr>
        <p:spPr>
          <a:xfrm>
            <a:off x="2391450" y="3786150"/>
            <a:ext cx="57297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r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</a:pPr>
            <a:r>
              <a:rPr lang="uk">
                <a:latin typeface="Times New Roman"/>
                <a:ea typeface="Times New Roman"/>
                <a:cs typeface="Times New Roman"/>
                <a:sym typeface="Times New Roman"/>
              </a:rPr>
              <a:t>Нижня панель вкладок: стрічка, мапа, публікація, сповіщення, профіль.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28" name="Google Shape;128;p1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308161" y="2472198"/>
            <a:ext cx="3700171" cy="10324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0"/>
          <p:cNvSpPr txBox="1">
            <a:spLocks noGrp="1"/>
          </p:cNvSpPr>
          <p:nvPr>
            <p:ph type="title"/>
          </p:nvPr>
        </p:nvSpPr>
        <p:spPr>
          <a:xfrm>
            <a:off x="311700" y="-92038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">
                <a:latin typeface="Times New Roman"/>
                <a:ea typeface="Times New Roman"/>
                <a:cs typeface="Times New Roman"/>
                <a:sym typeface="Times New Roman"/>
              </a:rPr>
              <a:t>Проєктування UI/UX</a:t>
            </a:r>
            <a:endParaRPr sz="32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4" name="Google Shape;134;p20"/>
          <p:cNvSpPr txBox="1">
            <a:spLocks noGrp="1"/>
          </p:cNvSpPr>
          <p:nvPr>
            <p:ph type="body" idx="1"/>
          </p:nvPr>
        </p:nvSpPr>
        <p:spPr>
          <a:xfrm>
            <a:off x="455500" y="1937100"/>
            <a:ext cx="5387100" cy="12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</a:pPr>
            <a:r>
              <a:rPr lang="uk" sz="2100">
                <a:latin typeface="Times New Roman"/>
                <a:ea typeface="Times New Roman"/>
                <a:cs typeface="Times New Roman"/>
                <a:sym typeface="Times New Roman"/>
              </a:rPr>
              <a:t>Картки FeedCard: фото, бейдж типу, локація, час, лічильник коментарів; фільтри Lost / Found та Dog / Cat.</a:t>
            </a:r>
            <a:endParaRPr sz="21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35" name="Google Shape;135;p2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p20"/>
          <p:cNvSpPr txBox="1"/>
          <p:nvPr/>
        </p:nvSpPr>
        <p:spPr>
          <a:xfrm>
            <a:off x="8778240" y="4606349"/>
            <a:ext cx="2841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uk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8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7" name="Google Shape;137;p2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9225" y="77450"/>
            <a:ext cx="1643925" cy="4618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1"/>
          <p:cNvSpPr txBox="1">
            <a:spLocks noGrp="1"/>
          </p:cNvSpPr>
          <p:nvPr>
            <p:ph type="body" idx="1"/>
          </p:nvPr>
        </p:nvSpPr>
        <p:spPr>
          <a:xfrm>
            <a:off x="582281" y="4149236"/>
            <a:ext cx="69231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r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uk"/>
              <a:t>Багатокрокові форми з індикатором прогресу, inline-валідація, екран прев’ю.</a:t>
            </a:r>
            <a:endParaRPr/>
          </a:p>
        </p:txBody>
      </p:sp>
      <p:pic>
        <p:nvPicPr>
          <p:cNvPr id="143" name="Google Shape;143;p2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p21"/>
          <p:cNvSpPr txBox="1"/>
          <p:nvPr/>
        </p:nvSpPr>
        <p:spPr>
          <a:xfrm>
            <a:off x="8778240" y="4606349"/>
            <a:ext cx="2841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uk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9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5" name="Google Shape;145;p2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992581" y="280489"/>
            <a:ext cx="5512793" cy="3791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2"/>
          <p:cNvSpPr txBox="1">
            <a:spLocks noGrp="1"/>
          </p:cNvSpPr>
          <p:nvPr>
            <p:ph type="title"/>
          </p:nvPr>
        </p:nvSpPr>
        <p:spPr>
          <a:xfrm>
            <a:off x="443162" y="256723"/>
            <a:ext cx="4128837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" sz="2600"/>
              <a:t>Діаграма активності: </a:t>
            </a:r>
            <a:br>
              <a:rPr lang="uk" sz="2600" dirty="0"/>
            </a:br>
            <a:r>
              <a:rPr lang="uk" sz="2600" dirty="0"/>
              <a:t>стрічка та коментарі</a:t>
            </a:r>
            <a:endParaRPr sz="3200"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1" name="Google Shape;151;p22"/>
          <p:cNvSpPr txBox="1">
            <a:spLocks noGrp="1"/>
          </p:cNvSpPr>
          <p:nvPr>
            <p:ph type="body" idx="1"/>
          </p:nvPr>
        </p:nvSpPr>
        <p:spPr>
          <a:xfrm>
            <a:off x="351950" y="1134487"/>
            <a:ext cx="5322300" cy="31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</a:pPr>
            <a:r>
              <a:rPr lang="uk" sz="1500"/>
              <a:t>Дві доріжки: «Користувач» і «Мобільний застосунок».</a:t>
            </a:r>
            <a:endParaRPr/>
          </a:p>
          <a:p>
            <a:pPr marL="0" lvl="0" indent="0" algn="l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</a:pPr>
            <a:r>
              <a:rPr lang="uk" sz="1500"/>
              <a:t>Старт → стрічка карток із пошуком і фільтрами (Lost / Found, Dog / Cat) та пагінацією.</a:t>
            </a:r>
            <a:endParaRPr/>
          </a:p>
          <a:p>
            <a:pPr marL="0" lvl="0" indent="0" algn="l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</a:pPr>
            <a:r>
              <a:rPr lang="uk" sz="1500"/>
              <a:t>Вибір картки → паралельне завантаження деталей оголошення та коментарів.</a:t>
            </a:r>
            <a:endParaRPr/>
          </a:p>
          <a:p>
            <a:pPr marL="0" lvl="0" indent="0" algn="l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</a:pPr>
            <a:r>
              <a:rPr lang="uk" sz="1500"/>
              <a:t>Коментування: текст і опціональне фото (завантаження у сховище → URL) → POST коментаря.</a:t>
            </a:r>
            <a:endParaRPr/>
          </a:p>
          <a:p>
            <a:pPr marL="0" lvl="0" indent="0" algn="l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</a:pPr>
            <a:r>
              <a:rPr lang="uk" sz="1500"/>
              <a:t>Після відповіді 201 — інвалідація кешу, оновлення списку коментарів і очищення поля вводу.</a:t>
            </a:r>
            <a:endParaRPr/>
          </a:p>
        </p:txBody>
      </p:sp>
      <p:pic>
        <p:nvPicPr>
          <p:cNvPr id="152" name="Google Shape;152;p2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22"/>
          <p:cNvSpPr txBox="1"/>
          <p:nvPr/>
        </p:nvSpPr>
        <p:spPr>
          <a:xfrm>
            <a:off x="8500000" y="4606349"/>
            <a:ext cx="5200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uk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10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4" name="Google Shape;154;p2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674150" y="148650"/>
            <a:ext cx="3230925" cy="4457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3"/>
          <p:cNvSpPr txBox="1">
            <a:spLocks noGrp="1"/>
          </p:cNvSpPr>
          <p:nvPr>
            <p:ph type="title"/>
          </p:nvPr>
        </p:nvSpPr>
        <p:spPr>
          <a:xfrm>
            <a:off x="268924" y="245110"/>
            <a:ext cx="4470129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" sz="2600" dirty="0"/>
              <a:t>Діаграма активності: </a:t>
            </a:r>
            <a:br>
              <a:rPr lang="uk" sz="2600" dirty="0"/>
            </a:br>
            <a:r>
              <a:rPr lang="uk" sz="2600" dirty="0"/>
              <a:t>публікація оголошення</a:t>
            </a:r>
            <a:endParaRPr sz="3200"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60" name="Google Shape;160;p23"/>
          <p:cNvSpPr txBox="1">
            <a:spLocks noGrp="1"/>
          </p:cNvSpPr>
          <p:nvPr>
            <p:ph type="body" idx="1"/>
          </p:nvPr>
        </p:nvSpPr>
        <p:spPr>
          <a:xfrm>
            <a:off x="268925" y="1100600"/>
            <a:ext cx="5619900" cy="31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</a:pPr>
            <a:r>
              <a:rPr lang="uk" sz="1500"/>
              <a:t>Старт із кнопки «+» → вибір типу: загублена або знайдена тварина.</a:t>
            </a:r>
            <a:endParaRPr/>
          </a:p>
          <a:p>
            <a:pPr marL="0" lvl="0" indent="0" algn="l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</a:pPr>
            <a:r>
              <a:rPr lang="uk" sz="1500"/>
              <a:t>Загублена — флоу з 3 кроків (вибір тварини, локація і дата, прев’ю); дані у LostPetFlowContext.</a:t>
            </a:r>
            <a:endParaRPr/>
          </a:p>
          <a:p>
            <a:pPr marL="0" lvl="0" indent="0" algn="l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</a:pPr>
            <a:r>
              <a:rPr lang="uk" sz="1500"/>
              <a:t>Знайдена — флоу з 4 кроків (фото, характеристики, локація, прев’ю); дані у FoundPetFlowContext.</a:t>
            </a:r>
            <a:endParaRPr/>
          </a:p>
          <a:p>
            <a:pPr marL="0" lvl="0" indent="0" algn="l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</a:pPr>
            <a:r>
              <a:rPr lang="uk" sz="1500"/>
              <a:t>Підтвердження → збереження в БД → очищення контексту, оголошення у стрічці.</a:t>
            </a:r>
            <a:endParaRPr/>
          </a:p>
          <a:p>
            <a:pPr marL="0" lvl="0" indent="0" algn="l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</a:pPr>
            <a:r>
              <a:rPr lang="uk" sz="1500"/>
              <a:t>Відмова → повернення до редагування раніше введених даних.</a:t>
            </a:r>
            <a:endParaRPr/>
          </a:p>
        </p:txBody>
      </p:sp>
      <p:pic>
        <p:nvPicPr>
          <p:cNvPr id="161" name="Google Shape;161;p2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62" name="Google Shape;162;p23"/>
          <p:cNvSpPr txBox="1"/>
          <p:nvPr/>
        </p:nvSpPr>
        <p:spPr>
          <a:xfrm>
            <a:off x="8500000" y="4606349"/>
            <a:ext cx="5200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uk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11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3" name="Google Shape;163;p2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950162" y="36025"/>
            <a:ext cx="2987912" cy="4607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4"/>
          <p:cNvSpPr txBox="1">
            <a:spLocks noGrp="1"/>
          </p:cNvSpPr>
          <p:nvPr>
            <p:ph type="title"/>
          </p:nvPr>
        </p:nvSpPr>
        <p:spPr>
          <a:xfrm>
            <a:off x="268925" y="-152998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" sz="3200"/>
              <a:t>Реалізація - основні приклади</a:t>
            </a:r>
            <a:endParaRPr sz="3200"/>
          </a:p>
        </p:txBody>
      </p:sp>
      <p:sp>
        <p:nvSpPr>
          <p:cNvPr id="169" name="Google Shape;169;p24"/>
          <p:cNvSpPr txBox="1">
            <a:spLocks noGrp="1"/>
          </p:cNvSpPr>
          <p:nvPr>
            <p:ph type="body" idx="1"/>
          </p:nvPr>
        </p:nvSpPr>
        <p:spPr>
          <a:xfrm>
            <a:off x="355950" y="771698"/>
            <a:ext cx="8520600" cy="9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</a:pPr>
            <a:r>
              <a:rPr lang="uk"/>
              <a:t>Рекурсивний обхід дерева коментарів – плаский список із відступами за глибиною вкладеності.</a:t>
            </a:r>
            <a:endParaRPr/>
          </a:p>
        </p:txBody>
      </p:sp>
      <p:pic>
        <p:nvPicPr>
          <p:cNvPr id="170" name="Google Shape;170;p2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71" name="Google Shape;171;p24"/>
          <p:cNvSpPr txBox="1"/>
          <p:nvPr/>
        </p:nvSpPr>
        <p:spPr>
          <a:xfrm>
            <a:off x="8685327" y="4606350"/>
            <a:ext cx="5199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uk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12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2" name="Google Shape;172;p2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55938" y="1674700"/>
            <a:ext cx="5781675" cy="266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3" name="Google Shape;173;p24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803550" y="1130613"/>
            <a:ext cx="1672225" cy="375517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74" name="Google Shape;174;p24"/>
          <p:cNvCxnSpPr/>
          <p:nvPr/>
        </p:nvCxnSpPr>
        <p:spPr>
          <a:xfrm rot="10800000" flipH="1">
            <a:off x="6251650" y="2954996"/>
            <a:ext cx="464700" cy="11700"/>
          </a:xfrm>
          <a:prstGeom prst="straightConnector1">
            <a:avLst/>
          </a:prstGeom>
          <a:noFill/>
          <a:ln w="19050" cap="flat" cmpd="sng">
            <a:solidFill>
              <a:srgbClr val="D08044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>
            <a:spLocks noGrp="1"/>
          </p:cNvSpPr>
          <p:nvPr>
            <p:ph type="title"/>
          </p:nvPr>
        </p:nvSpPr>
        <p:spPr>
          <a:xfrm>
            <a:off x="268925" y="-152998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" sz="3200"/>
              <a:t>Приклад реалізації</a:t>
            </a:r>
            <a:endParaRPr sz="3200"/>
          </a:p>
        </p:txBody>
      </p:sp>
      <p:sp>
        <p:nvSpPr>
          <p:cNvPr id="180" name="Google Shape;180;p25"/>
          <p:cNvSpPr txBox="1">
            <a:spLocks noGrp="1"/>
          </p:cNvSpPr>
          <p:nvPr>
            <p:ph type="body" idx="1"/>
          </p:nvPr>
        </p:nvSpPr>
        <p:spPr>
          <a:xfrm>
            <a:off x="311700" y="638977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</a:pPr>
            <a:r>
              <a:rPr lang="uk"/>
              <a:t>Автоматична інвалідація кешу TanStack Query після мутацій – списки й лічильники оновлюються автоматично.</a:t>
            </a:r>
            <a:endParaRPr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25"/>
          <p:cNvSpPr txBox="1"/>
          <p:nvPr/>
        </p:nvSpPr>
        <p:spPr>
          <a:xfrm>
            <a:off x="8652154" y="4606350"/>
            <a:ext cx="4101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uk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13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3" name="Google Shape;183;p2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11700" y="1458057"/>
            <a:ext cx="5837634" cy="1676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4" name="Google Shape;184;p2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172825" y="3237795"/>
            <a:ext cx="4433423" cy="1676350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25"/>
          <p:cNvSpPr txBox="1"/>
          <p:nvPr/>
        </p:nvSpPr>
        <p:spPr>
          <a:xfrm>
            <a:off x="6450900" y="1402750"/>
            <a:ext cx="2693100" cy="101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uk"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інвалідує і коментарі, і стрічку → лічильник оновлюється сам</a:t>
            </a:r>
            <a:endParaRPr sz="1800" b="0" i="0" u="none" strike="noStrike" cap="non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86" name="Google Shape;186;p25"/>
          <p:cNvSpPr txBox="1"/>
          <p:nvPr/>
        </p:nvSpPr>
        <p:spPr>
          <a:xfrm>
            <a:off x="1581975" y="3474250"/>
            <a:ext cx="22695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uk"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інвалідує 3 ключі кешу</a:t>
            </a:r>
            <a:endParaRPr sz="1800" b="0" i="0" u="none" strike="noStrike" cap="non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187" name="Google Shape;187;p25"/>
          <p:cNvCxnSpPr/>
          <p:nvPr/>
        </p:nvCxnSpPr>
        <p:spPr>
          <a:xfrm flipH="1">
            <a:off x="6285050" y="2437900"/>
            <a:ext cx="420300" cy="166200"/>
          </a:xfrm>
          <a:prstGeom prst="straightConnector1">
            <a:avLst/>
          </a:prstGeom>
          <a:noFill/>
          <a:ln w="19050" cap="flat" cmpd="sng">
            <a:solidFill>
              <a:srgbClr val="D08044"/>
            </a:solidFill>
            <a:prstDash val="solid"/>
            <a:round/>
            <a:headEnd type="none" w="sm" len="sm"/>
            <a:tailEnd type="triangle" w="med" len="med"/>
          </a:ln>
        </p:spPr>
      </p:cxnSp>
      <p:cxnSp>
        <p:nvCxnSpPr>
          <p:cNvPr id="188" name="Google Shape;188;p25"/>
          <p:cNvCxnSpPr/>
          <p:nvPr/>
        </p:nvCxnSpPr>
        <p:spPr>
          <a:xfrm>
            <a:off x="3431200" y="4041800"/>
            <a:ext cx="586200" cy="287700"/>
          </a:xfrm>
          <a:prstGeom prst="straightConnector1">
            <a:avLst/>
          </a:prstGeom>
          <a:noFill/>
          <a:ln w="19050" cap="flat" cmpd="sng">
            <a:solidFill>
              <a:srgbClr val="D08044"/>
            </a:solidFill>
            <a:prstDash val="solid"/>
            <a:round/>
            <a:headEnd type="none" w="sm" len="sm"/>
            <a:tailEnd type="triangle" w="med" len="med"/>
          </a:ln>
        </p:spPr>
      </p:cxn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26"/>
          <p:cNvSpPr txBox="1">
            <a:spLocks noGrp="1"/>
          </p:cNvSpPr>
          <p:nvPr>
            <p:ph type="title"/>
          </p:nvPr>
        </p:nvSpPr>
        <p:spPr>
          <a:xfrm>
            <a:off x="268925" y="-152998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" sz="3200"/>
              <a:t>Приклад реалізації</a:t>
            </a:r>
            <a:endParaRPr sz="3200"/>
          </a:p>
        </p:txBody>
      </p:sp>
      <p:sp>
        <p:nvSpPr>
          <p:cNvPr id="194" name="Google Shape;194;p26"/>
          <p:cNvSpPr txBox="1">
            <a:spLocks noGrp="1"/>
          </p:cNvSpPr>
          <p:nvPr>
            <p:ph type="body" idx="1"/>
          </p:nvPr>
        </p:nvSpPr>
        <p:spPr>
          <a:xfrm>
            <a:off x="311700" y="937625"/>
            <a:ext cx="8520600" cy="6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</a:pPr>
            <a:r>
              <a:rPr lang="uk"/>
              <a:t>Дебаунс текстового пошуку (400 мс) – менше мережевих запитів.</a:t>
            </a:r>
            <a:endParaRPr/>
          </a:p>
        </p:txBody>
      </p:sp>
      <p:pic>
        <p:nvPicPr>
          <p:cNvPr id="195" name="Google Shape;195;p2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26"/>
          <p:cNvSpPr txBox="1"/>
          <p:nvPr/>
        </p:nvSpPr>
        <p:spPr>
          <a:xfrm>
            <a:off x="8700819" y="4606350"/>
            <a:ext cx="5376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uk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14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7" name="Google Shape;197;p2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46026" y="1564025"/>
            <a:ext cx="6385205" cy="2402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>
            <a:spLocks noGrp="1"/>
          </p:cNvSpPr>
          <p:nvPr>
            <p:ph type="body" idx="1"/>
          </p:nvPr>
        </p:nvSpPr>
        <p:spPr>
          <a:xfrm>
            <a:off x="311700" y="96973"/>
            <a:ext cx="8520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</a:pPr>
            <a:r>
              <a:rPr lang="uk" b="1"/>
              <a:t>Скріншоти основних екранів застосунку:</a:t>
            </a:r>
            <a:endParaRPr/>
          </a:p>
        </p:txBody>
      </p:sp>
      <p:pic>
        <p:nvPicPr>
          <p:cNvPr id="203" name="Google Shape;203;p2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04" name="Google Shape;204;p27"/>
          <p:cNvSpPr txBox="1"/>
          <p:nvPr/>
        </p:nvSpPr>
        <p:spPr>
          <a:xfrm>
            <a:off x="8652154" y="4606350"/>
            <a:ext cx="4101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uk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15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27"/>
          <p:cNvSpPr txBox="1"/>
          <p:nvPr/>
        </p:nvSpPr>
        <p:spPr>
          <a:xfrm>
            <a:off x="1134149" y="4481000"/>
            <a:ext cx="24555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uk"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Стрічка оголошень</a:t>
            </a:r>
            <a:endParaRPr sz="1800" b="0" i="0" u="none" strike="noStrike" cap="non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06" name="Google Shape;206;p27"/>
          <p:cNvSpPr txBox="1"/>
          <p:nvPr/>
        </p:nvSpPr>
        <p:spPr>
          <a:xfrm>
            <a:off x="6516107" y="4206576"/>
            <a:ext cx="2455500" cy="7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uk"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Екран деталей оголошення</a:t>
            </a:r>
            <a:endParaRPr sz="1800" b="0" i="0" u="none" strike="noStrike" cap="non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207" name="Google Shape;207;p2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709800" y="610587"/>
            <a:ext cx="1746651" cy="3922324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" name="Google Shape;208;p27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712949" y="0"/>
            <a:ext cx="1888524" cy="4240901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27"/>
          <p:cNvSpPr txBox="1"/>
          <p:nvPr/>
        </p:nvSpPr>
        <p:spPr>
          <a:xfrm>
            <a:off x="3701375" y="4481000"/>
            <a:ext cx="3362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uk"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Екран «Мої оголошення»</a:t>
            </a:r>
            <a:endParaRPr sz="1800" b="0" i="0" u="none" strike="noStrike" cap="non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210" name="Google Shape;210;p27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210750" y="558675"/>
            <a:ext cx="1746651" cy="392227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28"/>
          <p:cNvSpPr txBox="1">
            <a:spLocks noGrp="1"/>
          </p:cNvSpPr>
          <p:nvPr>
            <p:ph type="title"/>
          </p:nvPr>
        </p:nvSpPr>
        <p:spPr>
          <a:xfrm>
            <a:off x="311700" y="-35287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" sz="3200">
                <a:latin typeface="Times New Roman"/>
                <a:ea typeface="Times New Roman"/>
                <a:cs typeface="Times New Roman"/>
                <a:sym typeface="Times New Roman"/>
              </a:rPr>
              <a:t>Підсумки </a:t>
            </a:r>
            <a:endParaRPr sz="32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16" name="Google Shape;216;p28"/>
          <p:cNvSpPr txBox="1">
            <a:spLocks noGrp="1"/>
          </p:cNvSpPr>
          <p:nvPr>
            <p:ph type="body" idx="1"/>
          </p:nvPr>
        </p:nvSpPr>
        <p:spPr>
          <a:xfrm>
            <a:off x="311700" y="1024188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uk">
                <a:latin typeface="Times New Roman"/>
                <a:ea typeface="Times New Roman"/>
                <a:cs typeface="Times New Roman"/>
                <a:sym typeface="Times New Roman"/>
              </a:rPr>
              <a:t>Спроєктовано UI/UX інтерфейсу застосунку.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uk">
                <a:latin typeface="Times New Roman"/>
                <a:ea typeface="Times New Roman"/>
                <a:cs typeface="Times New Roman"/>
                <a:sym typeface="Times New Roman"/>
              </a:rPr>
              <a:t>Розроблено повнофункціональний мобільний клієнт PetFound для роботи з оголошеннями про загублених і знайдених тварин – усі поставлені вимоги реалізовано в повному обсязі.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uk">
                <a:latin typeface="Times New Roman"/>
                <a:ea typeface="Times New Roman"/>
                <a:cs typeface="Times New Roman"/>
                <a:sym typeface="Times New Roman"/>
              </a:rPr>
              <a:t>Реалізовано стрічку з фільтрацією та пошуком, екран деталей, систему коментарів із фотографіями, багатокрокову публікацію оголошень і керування власними записами.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uk">
                <a:latin typeface="Times New Roman"/>
                <a:ea typeface="Times New Roman"/>
                <a:cs typeface="Times New Roman"/>
                <a:sym typeface="Times New Roman"/>
              </a:rPr>
              <a:t>Прийняті рішення – дебаунс пошуку, кешування й інвалідація TanStack Query, пряме завантаження фото через SAS-токен – забезпечили швидкий відгук інтерфейсу та розвантаження сервера.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217" name="Google Shape;217;p2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28"/>
          <p:cNvSpPr txBox="1"/>
          <p:nvPr/>
        </p:nvSpPr>
        <p:spPr>
          <a:xfrm>
            <a:off x="8596830" y="4606350"/>
            <a:ext cx="4656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uk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16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Шаблон презентації кваліфікаційної роботи магістрів">
  <a:themeElements>
    <a:clrScheme name="Luxe">
      <a:dk1>
        <a:srgbClr val="000000"/>
      </a:dk1>
      <a:lt1>
        <a:srgbClr val="FFFFFF"/>
      </a:lt1>
      <a:dk2>
        <a:srgbClr val="B7B7B7"/>
      </a:dk2>
      <a:lt2>
        <a:srgbClr val="CCA677"/>
      </a:lt2>
      <a:accent1>
        <a:srgbClr val="5D4037"/>
      </a:accent1>
      <a:accent2>
        <a:srgbClr val="455A64"/>
      </a:accent2>
      <a:accent3>
        <a:srgbClr val="57BB8A"/>
      </a:accent3>
      <a:accent4>
        <a:srgbClr val="78909C"/>
      </a:accent4>
      <a:accent5>
        <a:srgbClr val="607D8B"/>
      </a:accent5>
      <a:accent6>
        <a:srgbClr val="DCE755"/>
      </a:accent6>
      <a:hlink>
        <a:srgbClr val="607D8B"/>
      </a:hlink>
      <a:folHlink>
        <a:srgbClr val="607D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774</Words>
  <Application>Microsoft Office PowerPoint</Application>
  <PresentationFormat>Екран (16:9)</PresentationFormat>
  <Paragraphs>97</Paragraphs>
  <Slides>16</Slides>
  <Notes>16</Notes>
  <HiddenSlides>0</HiddenSlides>
  <MMClips>0</MMClips>
  <ScaleCrop>false</ScaleCrop>
  <HeadingPairs>
    <vt:vector size="6" baseType="variant">
      <vt:variant>
        <vt:lpstr>Використані шрифти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слайдів</vt:lpstr>
      </vt:variant>
      <vt:variant>
        <vt:i4>16</vt:i4>
      </vt:variant>
    </vt:vector>
  </HeadingPairs>
  <TitlesOfParts>
    <vt:vector size="21" baseType="lpstr">
      <vt:lpstr>Times New Roman</vt:lpstr>
      <vt:lpstr>Open Sans</vt:lpstr>
      <vt:lpstr>Economica</vt:lpstr>
      <vt:lpstr>Arial</vt:lpstr>
      <vt:lpstr>Шаблон презентації кваліфікаційної роботи магістрів</vt:lpstr>
      <vt:lpstr>Програмна система для пошуку загублених і знайдених домашніх тварин. UI/UX. Мобільний застосунок. Робота з оголошеннями</vt:lpstr>
      <vt:lpstr>Мета роботи</vt:lpstr>
      <vt:lpstr>Аналіз проблеми (аналіз існуючих аналогів) </vt:lpstr>
      <vt:lpstr>Постановка задачі та опис системи</vt:lpstr>
      <vt:lpstr>Вибір технологій розробки </vt:lpstr>
      <vt:lpstr>Архітектура створенного програмного забезпечення</vt:lpstr>
      <vt:lpstr>Проєктування UI/UX</vt:lpstr>
      <vt:lpstr>Проєктування UI/UX</vt:lpstr>
      <vt:lpstr>Презентація PowerPoint</vt:lpstr>
      <vt:lpstr>Діаграма активності:  стрічка та коментарі</vt:lpstr>
      <vt:lpstr>Діаграма активності:  публікація оголошення</vt:lpstr>
      <vt:lpstr>Реалізація - основні приклади</vt:lpstr>
      <vt:lpstr>Приклад реалізації</vt:lpstr>
      <vt:lpstr>Приклад реалізації</vt:lpstr>
      <vt:lpstr>Презентація PowerPoint</vt:lpstr>
      <vt:lpstr>Підсумки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Програмна система для пошуку загублених і знайдених домашніх тварин. UI/UX. Мобільний застосунок. Робота з оголошеннями</dc:title>
  <cp:lastModifiedBy>Alesia Kozodoi</cp:lastModifiedBy>
  <cp:revision>1</cp:revision>
  <dcterms:modified xsi:type="dcterms:W3CDTF">2026-06-12T19:27:19Z</dcterms:modified>
</cp:coreProperties>
</file>