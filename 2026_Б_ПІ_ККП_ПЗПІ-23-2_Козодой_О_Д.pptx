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4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embeddedFontLst>
    <p:embeddedFont>
      <p:font typeface="Economica" panose="020B0604020202020204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8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1" name="Google Shape;12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1" name="Google Shape;19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0" name="Google Shape;20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2" name="Google Shape;22;p4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0"/>
            <a:headEnd type="none" w="sm" len="sm"/>
            <a:tailEnd type="none" w="sm" len="sm"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805450" y="760000"/>
            <a:ext cx="58356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1800">
                <a:latin typeface="Times New Roman"/>
                <a:ea typeface="Times New Roman"/>
                <a:cs typeface="Times New Roman"/>
                <a:sym typeface="Times New Roman"/>
              </a:rPr>
              <a:t>Програмна система для пошуку загублених і знайдених домашніх тварин. UI/UX. Мобільний застосунок. Робота з оголошеннями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765450" y="2982475"/>
            <a:ext cx="5575200" cy="20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07"/>
              <a:buNone/>
            </a:pPr>
            <a:r>
              <a:rPr lang="uk" sz="2529" dirty="0">
                <a:latin typeface="Times New Roman"/>
                <a:ea typeface="Times New Roman"/>
                <a:cs typeface="Times New Roman"/>
                <a:sym typeface="Times New Roman"/>
              </a:rPr>
              <a:t>Олеся Козодой, група ПЗПІ-23-2</a:t>
            </a:r>
            <a:endParaRPr sz="2529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07"/>
              <a:buNone/>
            </a:pPr>
            <a:endParaRPr sz="2529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07"/>
              <a:buNone/>
            </a:pPr>
            <a:r>
              <a:rPr lang="uk" sz="2529" dirty="0">
                <a:latin typeface="Times New Roman"/>
                <a:ea typeface="Times New Roman"/>
                <a:cs typeface="Times New Roman"/>
                <a:sym typeface="Times New Roman"/>
              </a:rPr>
              <a:t>Керівник: доц. кафедри ПІ </a:t>
            </a:r>
            <a:endParaRPr sz="2529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7707"/>
              <a:buNone/>
            </a:pPr>
            <a:r>
              <a:rPr lang="uk" sz="2529" dirty="0">
                <a:latin typeface="Times New Roman"/>
                <a:ea typeface="Times New Roman"/>
                <a:cs typeface="Times New Roman"/>
                <a:sym typeface="Times New Roman"/>
              </a:rPr>
              <a:t>Побіженко Ірина Олександрівна</a:t>
            </a:r>
            <a:endParaRPr sz="2529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371600" lvl="0" indent="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uk-UA" dirty="0">
                <a:latin typeface="Times New Roman"/>
                <a:ea typeface="Times New Roman"/>
                <a:cs typeface="Times New Roman"/>
                <a:sym typeface="Times New Roman"/>
              </a:rPr>
              <a:t>Ч</a:t>
            </a: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ервень  2026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Мета роботи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937631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b="1">
                <a:latin typeface="Times New Roman"/>
                <a:ea typeface="Times New Roman"/>
                <a:cs typeface="Times New Roman"/>
                <a:sym typeface="Times New Roman"/>
              </a:rPr>
              <a:t>Мета: </a:t>
            </a: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проєктування UI/UX та розробка мобільного клієнта застосунку PetFound для роботи з оголошеннями про загублених і знайдених тварин.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b="1">
                <a:latin typeface="Times New Roman"/>
                <a:ea typeface="Times New Roman"/>
                <a:cs typeface="Times New Roman"/>
                <a:sym typeface="Times New Roman"/>
              </a:rPr>
              <a:t>Актуальність: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зникнення тварини потребує швидкого поширення інформації серед людей поблизу;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наявні канали (соцмережі, дошки оголошень) не структуровані й не мають фільтрації, оголошення швидко тонуть у потоці;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потрібен спеціалізований мобільний застосунок для швидкої публікації та зручного перегляду оголошень.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Аналіз проблеми (аналіз існуючих аналогів)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>
            <a:off x="1241071" y="4154100"/>
            <a:ext cx="28092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083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ключові функції платні; 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083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немає зручного мобільного застосунку.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95"/>
              <a:buNone/>
            </a:pP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8778240" y="4606349"/>
            <a:ext cx="284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1083" y="761725"/>
            <a:ext cx="1695029" cy="34650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/>
        </p:nvSpPr>
        <p:spPr>
          <a:xfrm>
            <a:off x="3957908" y="870000"/>
            <a:ext cx="1228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Pet911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74225" y="721775"/>
            <a:ext cx="1695025" cy="344768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4404600" y="4184810"/>
            <a:ext cx="4739400" cy="7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0833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немає спеціалізованих фільтрів за типом і видом;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083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оголошення швидко тонуть;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10833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95"/>
              <a:buFont typeface="Times New Roman"/>
              <a:buChar char="-"/>
            </a:pPr>
            <a:r>
              <a:rPr lang="uk" sz="1295">
                <a:latin typeface="Times New Roman"/>
                <a:ea typeface="Times New Roman"/>
                <a:cs typeface="Times New Roman"/>
                <a:sym typeface="Times New Roman"/>
              </a:rPr>
              <a:t>немає тематичних коментарів.</a:t>
            </a: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SzPts val="1395"/>
              <a:buNone/>
            </a:pPr>
            <a:endParaRPr sz="129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664796" y="1807752"/>
            <a:ext cx="1814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uk" sz="2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OLX.ua</a:t>
            </a:r>
            <a:endParaRPr sz="24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8" name="Google Shape;88;p15"/>
          <p:cNvCxnSpPr>
            <a:stCxn id="84" idx="1"/>
          </p:cNvCxnSpPr>
          <p:nvPr/>
        </p:nvCxnSpPr>
        <p:spPr>
          <a:xfrm flipH="1">
            <a:off x="3442208" y="1147050"/>
            <a:ext cx="515700" cy="7800"/>
          </a:xfrm>
          <a:prstGeom prst="straightConnector1">
            <a:avLst/>
          </a:prstGeom>
          <a:noFill/>
          <a:ln w="38100" cap="flat" cmpd="sng">
            <a:solidFill>
              <a:srgbClr val="D0804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9" name="Google Shape;89;p15"/>
          <p:cNvCxnSpPr/>
          <p:nvPr/>
        </p:nvCxnSpPr>
        <p:spPr>
          <a:xfrm>
            <a:off x="5212075" y="2095000"/>
            <a:ext cx="564000" cy="0"/>
          </a:xfrm>
          <a:prstGeom prst="straightConnector1">
            <a:avLst/>
          </a:prstGeom>
          <a:noFill/>
          <a:ln w="38100" cap="flat" cmpd="sng">
            <a:solidFill>
              <a:srgbClr val="D08044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Постановка задачі та опис системи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1"/>
          </p:nvPr>
        </p:nvSpPr>
        <p:spPr>
          <a:xfrm>
            <a:off x="311700" y="756600"/>
            <a:ext cx="8520600" cy="3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Метою даної роботи є проєктування UI/UX та розробка мобільного клієнта програмної системи PetFound у рамках комплексного курсового проєкту. Застосунок має бути призначений для публікації та перегляду оголошень про загублених і знайдених домашніх тварин.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uk" b="1" dirty="0">
                <a:latin typeface="Times New Roman"/>
                <a:ea typeface="Times New Roman"/>
                <a:cs typeface="Times New Roman"/>
                <a:sym typeface="Times New Roman"/>
              </a:rPr>
              <a:t>Реалізувати функціонал роботи з оголошеннями: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проєктування UI/UX інтерфейсу застосунку;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стрічка оголошень, екран деталей, система коментарів;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публікація оголошень про загублених і знайдених тварин;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керування власними оголошеннями та картки тварин.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ct val="1000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Платформи iOS та Android; стек React Native, Expo, TypeScript.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16"/>
          <p:cNvCxnSpPr/>
          <p:nvPr/>
        </p:nvCxnSpPr>
        <p:spPr>
          <a:xfrm>
            <a:off x="400425" y="2061823"/>
            <a:ext cx="6813900" cy="11100"/>
          </a:xfrm>
          <a:prstGeom prst="straightConnector1">
            <a:avLst/>
          </a:prstGeom>
          <a:noFill/>
          <a:ln w="28575" cap="flat" cmpd="sng">
            <a:solidFill>
              <a:srgbClr val="D08044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Вибір технологій розробки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17"/>
          <p:cNvSpPr txBox="1">
            <a:spLocks noGrp="1"/>
          </p:cNvSpPr>
          <p:nvPr>
            <p:ph type="body" idx="1"/>
          </p:nvPr>
        </p:nvSpPr>
        <p:spPr>
          <a:xfrm>
            <a:off x="311700" y="684625"/>
            <a:ext cx="8520600" cy="28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React Native + Expo;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TypeScript;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TanStack Query (кешування та інвалідація серверного стану);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Axios із перехоплювачами (централізована мережева логіка та авторизація);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Zod (клієнтська валідація форм);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dirty="0">
                <a:latin typeface="Times New Roman"/>
                <a:ea typeface="Times New Roman"/>
                <a:cs typeface="Times New Roman"/>
                <a:sym typeface="Times New Roman"/>
              </a:rPr>
              <a:t>– Azure Blob Storage (пряме завантаження фотографій).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7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4">
            <a:alphaModFix/>
          </a:blip>
          <a:srcRect l="26485" t="15595" r="27189" b="14062"/>
          <a:stretch/>
        </p:blipFill>
        <p:spPr>
          <a:xfrm>
            <a:off x="2479924" y="3517825"/>
            <a:ext cx="1526451" cy="121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25099" y="3318725"/>
            <a:ext cx="1367275" cy="13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00725" y="3489676"/>
            <a:ext cx="1216900" cy="121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Архітектура створенного програмного забезпечення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1"/>
          </p:nvPr>
        </p:nvSpPr>
        <p:spPr>
          <a:xfrm>
            <a:off x="2634800" y="1180950"/>
            <a:ext cx="6249600" cy="31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b="1">
                <a:latin typeface="Times New Roman"/>
                <a:ea typeface="Times New Roman"/>
                <a:cs typeface="Times New Roman"/>
                <a:sym typeface="Times New Roman"/>
              </a:rPr>
              <a:t>Поділ відповідальності між шарами: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представлення – екрани та перевикористовувані компоненти;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управління станом – провайдери React Context;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доступ до даних – Axios-клієнт і хуки TanStack Query;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– типи та допоміжні утиліти.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Навігація – Expo Router (файлова маршрутизація). Патерни: Provider, користувацькі хуки, перехоплювач (interceptor).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525" y="1306784"/>
            <a:ext cx="1945076" cy="2873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4713410" y="256723"/>
            <a:ext cx="4128837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</a:t>
            </a:r>
            <a:r>
              <a:rPr lang="uk-UA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системи</a:t>
            </a:r>
            <a:r>
              <a:rPr lang="u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u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стрічка та коментарі</a:t>
            </a:r>
            <a:endParaRPr sz="32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51" name="Google Shape;151;p22"/>
          <p:cNvSpPr txBox="1">
            <a:spLocks noGrp="1"/>
          </p:cNvSpPr>
          <p:nvPr>
            <p:ph type="body" idx="1"/>
          </p:nvPr>
        </p:nvSpPr>
        <p:spPr>
          <a:xfrm>
            <a:off x="3698654" y="1134487"/>
            <a:ext cx="5322300" cy="3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Дві доріжки: «Користувач» і «Мобільний застосунок».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Старт → стрічка карток із пошуком і фільтрами (Lost / Found, Dog / Cat) та пагінацією.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Вибір картки → паралельне завантаження деталей оголошення та коментарів.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Коментування: текст і опціональне фото (завантаження у сховище → URL) → POST коментаря.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Після відповіді 201 — інвалідація кешу, оновлення списку коментарів і очищення поля вводу.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2" name="Google Shape;152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2"/>
          <p:cNvSpPr txBox="1"/>
          <p:nvPr/>
        </p:nvSpPr>
        <p:spPr>
          <a:xfrm>
            <a:off x="8500000" y="4606349"/>
            <a:ext cx="52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377647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3"/>
          <p:cNvSpPr txBox="1">
            <a:spLocks noGrp="1"/>
          </p:cNvSpPr>
          <p:nvPr>
            <p:ph type="title"/>
          </p:nvPr>
        </p:nvSpPr>
        <p:spPr>
          <a:xfrm>
            <a:off x="4566604" y="245110"/>
            <a:ext cx="4470129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-UA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Проєктування</a:t>
            </a:r>
            <a:r>
              <a:rPr lang="uk-UA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системи</a:t>
            </a:r>
            <a:r>
              <a:rPr lang="u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br>
              <a:rPr lang="u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uk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публікація оголошення</a:t>
            </a:r>
            <a:endParaRPr sz="32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60" name="Google Shape;160;p23"/>
          <p:cNvSpPr txBox="1">
            <a:spLocks noGrp="1"/>
          </p:cNvSpPr>
          <p:nvPr>
            <p:ph type="body" idx="1"/>
          </p:nvPr>
        </p:nvSpPr>
        <p:spPr>
          <a:xfrm>
            <a:off x="3350453" y="1100600"/>
            <a:ext cx="5619900" cy="31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Старт із кнопки «+» → вибір типу: загублена або знайдена тварина.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Загублена – флоу з 3 кроків (вибір тварини, локація і дата, прев’ю); дані у LostPetFlowContext.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Знайдена – флоу з 4 кроків (фото, характеристики, локація, прев’ю); дані у FoundPetFlowContext.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Підтвердження → збереження в БД → очищення контексту, оголошення у стрічці.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Відмова → повернення до редагування раніше введених даних.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1" name="Google Shape;16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/>
        </p:nvSpPr>
        <p:spPr>
          <a:xfrm>
            <a:off x="8500000" y="4606349"/>
            <a:ext cx="52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361188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Проєктування UI/UX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1"/>
          </p:nvPr>
        </p:nvSpPr>
        <p:spPr>
          <a:xfrm>
            <a:off x="372215" y="1026122"/>
            <a:ext cx="6123000" cy="122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Простота й інтуїтивність – головна мета, так як при користування застосунком PetFound, користувач перебуватиме у стресовій ситуації.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9"/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1"/>
          </p:nvPr>
        </p:nvSpPr>
        <p:spPr>
          <a:xfrm>
            <a:off x="2391450" y="3786150"/>
            <a:ext cx="57297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Нижня панель вкладок: стрічка, мапа, публікація, сповіщення, профіль.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" name="Google Shape;128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08161" y="2472198"/>
            <a:ext cx="3700171" cy="1032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Проєктування UI/UX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20"/>
          <p:cNvSpPr txBox="1">
            <a:spLocks noGrp="1"/>
          </p:cNvSpPr>
          <p:nvPr>
            <p:ph type="body" idx="1"/>
          </p:nvPr>
        </p:nvSpPr>
        <p:spPr>
          <a:xfrm>
            <a:off x="455500" y="1937100"/>
            <a:ext cx="5387100" cy="12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rPr lang="uk" sz="2100">
                <a:latin typeface="Times New Roman"/>
                <a:ea typeface="Times New Roman"/>
                <a:cs typeface="Times New Roman"/>
                <a:sym typeface="Times New Roman"/>
              </a:rPr>
              <a:t>Картки FeedCard: фото, бейдж типу, локація, час, лічильник коментарів; фільтри Lost / Found та Dog / Cat.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0"/>
          <p:cNvSpPr txBox="1"/>
          <p:nvPr/>
        </p:nvSpPr>
        <p:spPr>
          <a:xfrm>
            <a:off x="8678008" y="4606349"/>
            <a:ext cx="384332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9225" y="77450"/>
            <a:ext cx="1643925" cy="461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>
            <a:off x="63536" y="144619"/>
            <a:ext cx="8924526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 dirty="0"/>
              <a:t>Багатокрокові форми з індикатором прогресу, inline-валідація, екран прев’ю.</a:t>
            </a:r>
            <a:endParaRPr dirty="0"/>
          </a:p>
        </p:txBody>
      </p:sp>
      <p:pic>
        <p:nvPicPr>
          <p:cNvPr id="143" name="Google Shape;143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8651631" y="4606349"/>
            <a:ext cx="410709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020DE3-B429-43E0-9EC3-5CA659338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99" y="669747"/>
            <a:ext cx="1862539" cy="427150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44D3FDC-AF7D-4CD5-8690-452AAFC9AB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5430" y="675624"/>
            <a:ext cx="1862539" cy="426562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E69B1E4-FB5D-4F8D-B386-E7FCBED107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632" y="700656"/>
            <a:ext cx="1224178" cy="4298225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8F165C3-2866-4F34-9305-66A9C38409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9851" y="700656"/>
            <a:ext cx="1583449" cy="421349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Реалізація - основні приклади</a:t>
            </a:r>
            <a:endParaRPr sz="3200"/>
          </a:p>
        </p:txBody>
      </p:sp>
      <p:sp>
        <p:nvSpPr>
          <p:cNvPr id="169" name="Google Shape;169;p24"/>
          <p:cNvSpPr txBox="1">
            <a:spLocks noGrp="1"/>
          </p:cNvSpPr>
          <p:nvPr>
            <p:ph type="body" idx="1"/>
          </p:nvPr>
        </p:nvSpPr>
        <p:spPr>
          <a:xfrm>
            <a:off x="355950" y="543092"/>
            <a:ext cx="8520600" cy="9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dirty="0"/>
              <a:t>Рекурсивний обхід дерева коментарів – плаский список із відступами за глибиною вкладеності.</a:t>
            </a:r>
            <a:endParaRPr dirty="0"/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4"/>
          <p:cNvSpPr txBox="1"/>
          <p:nvPr/>
        </p:nvSpPr>
        <p:spPr>
          <a:xfrm>
            <a:off x="8685327" y="4606350"/>
            <a:ext cx="519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2" name="Google Shape;172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5938" y="1674700"/>
            <a:ext cx="578167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03550" y="1130613"/>
            <a:ext cx="1672225" cy="37551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4"/>
          <p:cNvCxnSpPr/>
          <p:nvPr/>
        </p:nvCxnSpPr>
        <p:spPr>
          <a:xfrm rot="10800000" flipH="1">
            <a:off x="6251650" y="2954996"/>
            <a:ext cx="464700" cy="11700"/>
          </a:xfrm>
          <a:prstGeom prst="straightConnector1">
            <a:avLst/>
          </a:prstGeom>
          <a:noFill/>
          <a:ln w="19050" cap="flat" cmpd="sng">
            <a:solidFill>
              <a:srgbClr val="D08044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5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Приклад реалізації</a:t>
            </a:r>
            <a:endParaRPr sz="3200"/>
          </a:p>
        </p:txBody>
      </p:sp>
      <p:sp>
        <p:nvSpPr>
          <p:cNvPr id="180" name="Google Shape;180;p25"/>
          <p:cNvSpPr txBox="1">
            <a:spLocks noGrp="1"/>
          </p:cNvSpPr>
          <p:nvPr>
            <p:ph type="body" idx="1"/>
          </p:nvPr>
        </p:nvSpPr>
        <p:spPr>
          <a:xfrm>
            <a:off x="311700" y="63897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/>
              <a:t>Автоматична інвалідація кешу TanStack Query після мутацій – списки й лічильники оновлюються автоматично.</a:t>
            </a:r>
            <a:endParaRPr/>
          </a:p>
        </p:txBody>
      </p:sp>
      <p:pic>
        <p:nvPicPr>
          <p:cNvPr id="181" name="Google Shape;181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5"/>
          <p:cNvSpPr txBox="1"/>
          <p:nvPr/>
        </p:nvSpPr>
        <p:spPr>
          <a:xfrm>
            <a:off x="8652154" y="4606350"/>
            <a:ext cx="41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700" y="1458057"/>
            <a:ext cx="5837634" cy="167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172825" y="3237795"/>
            <a:ext cx="4433423" cy="167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/>
        </p:nvSpPr>
        <p:spPr>
          <a:xfrm>
            <a:off x="6450900" y="1402750"/>
            <a:ext cx="26931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uk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інвалідує і коментарі, і стрічку → лічильник оновлюється сам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1581975" y="3474250"/>
            <a:ext cx="2269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uk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інвалідує 3 ключі кешу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87" name="Google Shape;187;p25"/>
          <p:cNvCxnSpPr/>
          <p:nvPr/>
        </p:nvCxnSpPr>
        <p:spPr>
          <a:xfrm flipH="1">
            <a:off x="6285050" y="2437900"/>
            <a:ext cx="420300" cy="166200"/>
          </a:xfrm>
          <a:prstGeom prst="straightConnector1">
            <a:avLst/>
          </a:prstGeom>
          <a:noFill/>
          <a:ln w="19050" cap="flat" cmpd="sng">
            <a:solidFill>
              <a:srgbClr val="D08044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3431200" y="4041800"/>
            <a:ext cx="586200" cy="287700"/>
          </a:xfrm>
          <a:prstGeom prst="straightConnector1">
            <a:avLst/>
          </a:prstGeom>
          <a:noFill/>
          <a:ln w="19050" cap="flat" cmpd="sng">
            <a:solidFill>
              <a:srgbClr val="D08044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/>
              <a:t>Приклад реалізації</a:t>
            </a:r>
            <a:endParaRPr sz="3200"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11700" y="937625"/>
            <a:ext cx="85206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/>
              <a:t>Дебаунс текстового пошуку (400 мс) – менше мережевих запитів.</a:t>
            </a:r>
            <a:endParaRPr/>
          </a:p>
        </p:txBody>
      </p:sp>
      <p:pic>
        <p:nvPicPr>
          <p:cNvPr id="195" name="Google Shape;195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6"/>
          <p:cNvSpPr txBox="1"/>
          <p:nvPr/>
        </p:nvSpPr>
        <p:spPr>
          <a:xfrm>
            <a:off x="8700819" y="4606350"/>
            <a:ext cx="537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6026" y="1564025"/>
            <a:ext cx="6385205" cy="24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7"/>
          <p:cNvSpPr txBox="1">
            <a:spLocks noGrp="1"/>
          </p:cNvSpPr>
          <p:nvPr>
            <p:ph type="body" idx="1"/>
          </p:nvPr>
        </p:nvSpPr>
        <p:spPr>
          <a:xfrm>
            <a:off x="311700" y="96973"/>
            <a:ext cx="8520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uk" b="1"/>
              <a:t>Скріншоти основних екранів застосунку:</a:t>
            </a:r>
            <a:endParaRPr/>
          </a:p>
        </p:txBody>
      </p:sp>
      <p:pic>
        <p:nvPicPr>
          <p:cNvPr id="203" name="Google Shape;20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7"/>
          <p:cNvSpPr txBox="1"/>
          <p:nvPr/>
        </p:nvSpPr>
        <p:spPr>
          <a:xfrm>
            <a:off x="8652154" y="4606350"/>
            <a:ext cx="41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7"/>
          <p:cNvSpPr txBox="1"/>
          <p:nvPr/>
        </p:nvSpPr>
        <p:spPr>
          <a:xfrm>
            <a:off x="1134149" y="4481000"/>
            <a:ext cx="2455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Стрічка оголошень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7"/>
          <p:cNvSpPr txBox="1"/>
          <p:nvPr/>
        </p:nvSpPr>
        <p:spPr>
          <a:xfrm>
            <a:off x="6516107" y="4206576"/>
            <a:ext cx="24555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Екран деталей оголошення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07" name="Google Shape;207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9800" y="610587"/>
            <a:ext cx="1746651" cy="392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12949" y="0"/>
            <a:ext cx="1888524" cy="42409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/>
        </p:nvSpPr>
        <p:spPr>
          <a:xfrm>
            <a:off x="3701375" y="4481000"/>
            <a:ext cx="336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uk" sz="1800" b="0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Екран «Мої оголошення»</a:t>
            </a:r>
            <a:endParaRPr sz="1800" b="0" i="0" u="none" strike="noStrike" cap="non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10" name="Google Shape;210;p2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210750" y="558675"/>
            <a:ext cx="1746651" cy="39222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8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uk" sz="3200">
                <a:latin typeface="Times New Roman"/>
                <a:ea typeface="Times New Roman"/>
                <a:cs typeface="Times New Roman"/>
                <a:sym typeface="Times New Roman"/>
              </a:rPr>
              <a:t>Підсумки 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28"/>
          <p:cNvSpPr txBox="1">
            <a:spLocks noGrp="1"/>
          </p:cNvSpPr>
          <p:nvPr>
            <p:ph type="body" idx="1"/>
          </p:nvPr>
        </p:nvSpPr>
        <p:spPr>
          <a:xfrm>
            <a:off x="311700" y="1024188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Спроєктовано UI/UX інтерфейсу застосунку.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Розроблено повнофункціональний мобільний клієнт PetFound для роботи з оголошеннями про загублених і знайдених тварин – усі поставлені вимоги реалізовано в повному обсязі.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Реалізовано стрічку з фільтрацією та пошуком, екран деталей, систему коментарів із фотографіями, багатокрокову публікацію оголошень і керування власними записами.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uk">
                <a:latin typeface="Times New Roman"/>
                <a:ea typeface="Times New Roman"/>
                <a:cs typeface="Times New Roman"/>
                <a:sym typeface="Times New Roman"/>
              </a:rPr>
              <a:t>Прийняті рішення – дебаунс пошуку, кешування й інвалідація TanStack Query, пряме завантаження фото через SAS-токен – забезпечили швидкий відгук інтерфейсу та розвантаження сервера.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/>
        </p:nvSpPr>
        <p:spPr>
          <a:xfrm>
            <a:off x="8596830" y="4606350"/>
            <a:ext cx="465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uk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759</Words>
  <Application>Microsoft Office PowerPoint</Application>
  <PresentationFormat>Екран (16:9)</PresentationFormat>
  <Paragraphs>97</Paragraphs>
  <Slides>16</Slides>
  <Notes>16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16</vt:i4>
      </vt:variant>
    </vt:vector>
  </HeadingPairs>
  <TitlesOfParts>
    <vt:vector size="21" baseType="lpstr">
      <vt:lpstr>Times New Roman</vt:lpstr>
      <vt:lpstr>Economica</vt:lpstr>
      <vt:lpstr>Open Sans</vt:lpstr>
      <vt:lpstr>Arial</vt:lpstr>
      <vt:lpstr>Шаблон презентації кваліфікаційної роботи магістрів</vt:lpstr>
      <vt:lpstr>Програмна система для пошуку загублених і знайдених домашніх тварин. UI/UX. Мобільний застосунок. Робота з оголошеннями</vt:lpstr>
      <vt:lpstr>Мета роботи</vt:lpstr>
      <vt:lpstr>Аналіз проблеми (аналіз існуючих аналогів) </vt:lpstr>
      <vt:lpstr>Постановка задачі та опис системи</vt:lpstr>
      <vt:lpstr>Вибір технологій розробки </vt:lpstr>
      <vt:lpstr>Архітектура створенного програмного забезпечення</vt:lpstr>
      <vt:lpstr>Проєктування системи:  стрічка та коментарі</vt:lpstr>
      <vt:lpstr>Проєктування системи:  публікація оголошення</vt:lpstr>
      <vt:lpstr>Проєктування UI/UX</vt:lpstr>
      <vt:lpstr>Проєктування UI/UX</vt:lpstr>
      <vt:lpstr>Презентація PowerPoint</vt:lpstr>
      <vt:lpstr>Реалізація - основні приклади</vt:lpstr>
      <vt:lpstr>Приклад реалізації</vt:lpstr>
      <vt:lpstr>Приклад реалізації</vt:lpstr>
      <vt:lpstr>Презентація PowerPoint</vt:lpstr>
      <vt:lpstr>Підсумки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Програмна система для пошуку загублених і знайдених домашніх тварин. UI/UX. Мобільний застосунок. Робота з оголошеннями</dc:title>
  <cp:lastModifiedBy>Alesia Kozodoi</cp:lastModifiedBy>
  <cp:revision>8</cp:revision>
  <dcterms:modified xsi:type="dcterms:W3CDTF">2026-06-13T12:35:43Z</dcterms:modified>
</cp:coreProperties>
</file>